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slide" Target="slide12.xml"/><Relationship Id="rId5" Type="http://schemas.openxmlformats.org/officeDocument/2006/relationships/slide" Target="slide22.xml"/><Relationship Id="rId6" Type="http://schemas.openxmlformats.org/officeDocument/2006/relationships/slide" Target="slide3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slide1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Relationship Id="rId4" Type="http://schemas.openxmlformats.org/officeDocument/2006/relationships/slide" Target="slide1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slide" Target="slide2.xml"/><Relationship Id="rId5" Type="http://schemas.openxmlformats.org/officeDocument/2006/relationships/slide" Target="slide1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10.xml"/><Relationship Id="rId13" Type="http://schemas.openxmlformats.org/officeDocument/2006/relationships/slide" Target="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slide1.xml"/><Relationship Id="rId4" Type="http://schemas.openxmlformats.org/officeDocument/2006/relationships/slide" Target="slide13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slide12.xml"/><Relationship Id="rId4" Type="http://schemas.openxmlformats.org/officeDocument/2006/relationships/slide" Target="slide1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slide" Target="slide12.xml"/><Relationship Id="rId4" Type="http://schemas.openxmlformats.org/officeDocument/2006/relationships/slide" Target="slide1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slide12.xml"/><Relationship Id="rId4" Type="http://schemas.openxmlformats.org/officeDocument/2006/relationships/slide" Target="slide1.xml"/><Relationship Id="rId5" Type="http://schemas.openxmlformats.org/officeDocument/2006/relationships/slide" Target="slide13.xml"/><Relationship Id="rId6" Type="http://schemas.openxmlformats.org/officeDocument/2006/relationships/slide" Target="slide14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slide" Target="slide12.xml"/><Relationship Id="rId4" Type="http://schemas.openxmlformats.org/officeDocument/2006/relationships/slide" Target="slide1.xml"/><Relationship Id="rId5" Type="http://schemas.openxmlformats.org/officeDocument/2006/relationships/slide" Target="slide13.xml"/><Relationship Id="rId6" Type="http://schemas.openxmlformats.org/officeDocument/2006/relationships/slide" Target="slide14.xml"/><Relationship Id="rId7" Type="http://schemas.openxmlformats.org/officeDocument/2006/relationships/slide" Target="slide15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slide" Target="slide12.xml"/><Relationship Id="rId4" Type="http://schemas.openxmlformats.org/officeDocument/2006/relationships/slide" Target="slide1.xml"/><Relationship Id="rId5" Type="http://schemas.openxmlformats.org/officeDocument/2006/relationships/slide" Target="slide13.xml"/><Relationship Id="rId6" Type="http://schemas.openxmlformats.org/officeDocument/2006/relationships/slide" Target="slide14.xml"/><Relationship Id="rId7" Type="http://schemas.openxmlformats.org/officeDocument/2006/relationships/slide" Target="slide15.xml"/><Relationship Id="rId8" Type="http://schemas.openxmlformats.org/officeDocument/2006/relationships/slide" Target="slide16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slide" Target="slide12.xml"/><Relationship Id="rId4" Type="http://schemas.openxmlformats.org/officeDocument/2006/relationships/slide" Target="slide1.xml"/><Relationship Id="rId5" Type="http://schemas.openxmlformats.org/officeDocument/2006/relationships/slide" Target="slide13.xml"/><Relationship Id="rId6" Type="http://schemas.openxmlformats.org/officeDocument/2006/relationships/slide" Target="slide14.xml"/><Relationship Id="rId7" Type="http://schemas.openxmlformats.org/officeDocument/2006/relationships/slide" Target="slide15.xml"/><Relationship Id="rId8" Type="http://schemas.openxmlformats.org/officeDocument/2006/relationships/slide" Target="slide16.xml"/><Relationship Id="rId9" Type="http://schemas.openxmlformats.org/officeDocument/2006/relationships/slide" Target="slide17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slide" Target="slide12.xml"/><Relationship Id="rId5" Type="http://schemas.openxmlformats.org/officeDocument/2006/relationships/slide" Target="slide1.xml"/><Relationship Id="rId6" Type="http://schemas.openxmlformats.org/officeDocument/2006/relationships/slide" Target="slide13.xml"/><Relationship Id="rId7" Type="http://schemas.openxmlformats.org/officeDocument/2006/relationships/slide" Target="slide14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7.xml"/><Relationship Id="rId11" Type="http://schemas.openxmlformats.org/officeDocument/2006/relationships/slide" Target="slide18.xml"/><Relationship Id="rId12" Type="http://schemas.openxmlformats.org/officeDocument/2006/relationships/slide" Target="slide20.xml"/><Relationship Id="rId13" Type="http://schemas.openxmlformats.org/officeDocument/2006/relationships/slide" Target="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slide" Target="slide12.xml"/><Relationship Id="rId4" Type="http://schemas.openxmlformats.org/officeDocument/2006/relationships/slide" Target="slide1.xml"/><Relationship Id="rId5" Type="http://schemas.openxmlformats.org/officeDocument/2006/relationships/slide" Target="slide13.xml"/><Relationship Id="rId6" Type="http://schemas.openxmlformats.org/officeDocument/2006/relationships/slide" Target="slide14.xml"/><Relationship Id="rId7" Type="http://schemas.openxmlformats.org/officeDocument/2006/relationships/slide" Target="slide15.xml"/><Relationship Id="rId8" Type="http://schemas.openxmlformats.org/officeDocument/2006/relationships/slide" Target="slide16.xml"/><Relationship Id="rId9" Type="http://schemas.openxmlformats.org/officeDocument/2006/relationships/slide" Target="slide17.xml"/><Relationship Id="rId10" Type="http://schemas.openxmlformats.org/officeDocument/2006/relationships/slide" Target="slide18.xml"/><Relationship Id="rId11" Type="http://schemas.openxmlformats.org/officeDocument/2006/relationships/slide" Target="slide19.xml"/><Relationship Id="rId12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slide" Target="slide12.xml"/><Relationship Id="rId4" Type="http://schemas.openxmlformats.org/officeDocument/2006/relationships/slide" Target="slide1.xml"/><Relationship Id="rId5" Type="http://schemas.openxmlformats.org/officeDocument/2006/relationships/slide" Target="slide13.xml"/><Relationship Id="rId6" Type="http://schemas.openxmlformats.org/officeDocument/2006/relationships/slide" Target="slide14.xml"/><Relationship Id="rId7" Type="http://schemas.openxmlformats.org/officeDocument/2006/relationships/slide" Target="slide15.xml"/><Relationship Id="rId8" Type="http://schemas.openxmlformats.org/officeDocument/2006/relationships/slide" Target="slide16.xml"/><Relationship Id="rId9" Type="http://schemas.openxmlformats.org/officeDocument/2006/relationships/slide" Target="slide17.xml"/><Relationship Id="rId10" Type="http://schemas.openxmlformats.org/officeDocument/2006/relationships/slide" Target="slide18.xml"/><Relationship Id="rId11" Type="http://schemas.openxmlformats.org/officeDocument/2006/relationships/slide" Target="slide19.xml"/><Relationship Id="rId12" Type="http://schemas.openxmlformats.org/officeDocument/2006/relationships/slide" Target="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slide" Target="slide1.xml"/><Relationship Id="rId4" Type="http://schemas.openxmlformats.org/officeDocument/2006/relationships/slide" Target="slide23.xml"/><Relationship Id="rId5" Type="http://schemas.openxmlformats.org/officeDocument/2006/relationships/slide" Target="slide24.xml"/><Relationship Id="rId6" Type="http://schemas.openxmlformats.org/officeDocument/2006/relationships/slide" Target="slide25.xml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" Target="slide28.xml"/><Relationship Id="rId10" Type="http://schemas.openxmlformats.org/officeDocument/2006/relationships/slide" Target="slide29.xml"/><Relationship Id="rId11" Type="http://schemas.openxmlformats.org/officeDocument/2006/relationships/slide" Target="slide30.xml"/><Relationship Id="rId12" Type="http://schemas.openxmlformats.org/officeDocument/2006/relationships/slide" Target="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slide" Target="slide22.xml"/><Relationship Id="rId4" Type="http://schemas.openxmlformats.org/officeDocument/2006/relationships/slide" Target="slide1.xml"/><Relationship Id="rId5" Type="http://schemas.openxmlformats.org/officeDocument/2006/relationships/slide" Target="slide24.xml"/><Relationship Id="rId6" Type="http://schemas.openxmlformats.org/officeDocument/2006/relationships/slide" Target="slide25.xml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" Target="slide28.xml"/><Relationship Id="rId10" Type="http://schemas.openxmlformats.org/officeDocument/2006/relationships/slide" Target="slide29.xml"/><Relationship Id="rId11" Type="http://schemas.openxmlformats.org/officeDocument/2006/relationships/slide" Target="slide30.xml"/><Relationship Id="rId12" Type="http://schemas.openxmlformats.org/officeDocument/2006/relationships/slide" Target="slide3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slide" Target="slide22.xml"/><Relationship Id="rId4" Type="http://schemas.openxmlformats.org/officeDocument/2006/relationships/slide" Target="slide1.xml"/><Relationship Id="rId5" Type="http://schemas.openxmlformats.org/officeDocument/2006/relationships/slide" Target="slide23.xml"/><Relationship Id="rId6" Type="http://schemas.openxmlformats.org/officeDocument/2006/relationships/slide" Target="slide25.xml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" Target="slide28.xml"/><Relationship Id="rId10" Type="http://schemas.openxmlformats.org/officeDocument/2006/relationships/slide" Target="slide29.xml"/><Relationship Id="rId11" Type="http://schemas.openxmlformats.org/officeDocument/2006/relationships/slide" Target="slide30.xml"/><Relationship Id="rId12" Type="http://schemas.openxmlformats.org/officeDocument/2006/relationships/slide" Target="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slide" Target="slide22.xml"/><Relationship Id="rId4" Type="http://schemas.openxmlformats.org/officeDocument/2006/relationships/slide" Target="slide1.xml"/><Relationship Id="rId5" Type="http://schemas.openxmlformats.org/officeDocument/2006/relationships/slide" Target="slide23.xml"/><Relationship Id="rId6" Type="http://schemas.openxmlformats.org/officeDocument/2006/relationships/slide" Target="slide24.xml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" Target="slide28.xml"/><Relationship Id="rId10" Type="http://schemas.openxmlformats.org/officeDocument/2006/relationships/slide" Target="slide29.xml"/><Relationship Id="rId11" Type="http://schemas.openxmlformats.org/officeDocument/2006/relationships/slide" Target="slide30.xml"/><Relationship Id="rId12" Type="http://schemas.openxmlformats.org/officeDocument/2006/relationships/slide" Target="slide3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slide" Target="slide22.xml"/><Relationship Id="rId4" Type="http://schemas.openxmlformats.org/officeDocument/2006/relationships/slide" Target="slide1.xml"/><Relationship Id="rId5" Type="http://schemas.openxmlformats.org/officeDocument/2006/relationships/slide" Target="slide23.xml"/><Relationship Id="rId6" Type="http://schemas.openxmlformats.org/officeDocument/2006/relationships/slide" Target="slide24.xml"/><Relationship Id="rId7" Type="http://schemas.openxmlformats.org/officeDocument/2006/relationships/slide" Target="slide25.xml"/><Relationship Id="rId8" Type="http://schemas.openxmlformats.org/officeDocument/2006/relationships/slide" Target="slide27.xml"/><Relationship Id="rId9" Type="http://schemas.openxmlformats.org/officeDocument/2006/relationships/slide" Target="slide28.xml"/><Relationship Id="rId10" Type="http://schemas.openxmlformats.org/officeDocument/2006/relationships/slide" Target="slide29.xml"/><Relationship Id="rId11" Type="http://schemas.openxmlformats.org/officeDocument/2006/relationships/slide" Target="slide30.xml"/><Relationship Id="rId12" Type="http://schemas.openxmlformats.org/officeDocument/2006/relationships/slide" Target="slide3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slide" Target="slide22.xml"/><Relationship Id="rId4" Type="http://schemas.openxmlformats.org/officeDocument/2006/relationships/slide" Target="slide1.xml"/><Relationship Id="rId5" Type="http://schemas.openxmlformats.org/officeDocument/2006/relationships/slide" Target="slide23.xml"/><Relationship Id="rId6" Type="http://schemas.openxmlformats.org/officeDocument/2006/relationships/slide" Target="slide24.xml"/><Relationship Id="rId7" Type="http://schemas.openxmlformats.org/officeDocument/2006/relationships/slide" Target="slide25.xml"/><Relationship Id="rId8" Type="http://schemas.openxmlformats.org/officeDocument/2006/relationships/slide" Target="slide26.xml"/><Relationship Id="rId9" Type="http://schemas.openxmlformats.org/officeDocument/2006/relationships/slide" Target="slide28.xml"/><Relationship Id="rId10" Type="http://schemas.openxmlformats.org/officeDocument/2006/relationships/slide" Target="slide29.xml"/><Relationship Id="rId11" Type="http://schemas.openxmlformats.org/officeDocument/2006/relationships/slide" Target="slide30.xml"/><Relationship Id="rId12" Type="http://schemas.openxmlformats.org/officeDocument/2006/relationships/slide" Target="slide3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slide" Target="slide22.xml"/><Relationship Id="rId4" Type="http://schemas.openxmlformats.org/officeDocument/2006/relationships/slide" Target="slide1.xml"/><Relationship Id="rId5" Type="http://schemas.openxmlformats.org/officeDocument/2006/relationships/slide" Target="slide23.xml"/><Relationship Id="rId6" Type="http://schemas.openxmlformats.org/officeDocument/2006/relationships/slide" Target="slide24.xml"/><Relationship Id="rId7" Type="http://schemas.openxmlformats.org/officeDocument/2006/relationships/slide" Target="slide25.xml"/><Relationship Id="rId8" Type="http://schemas.openxmlformats.org/officeDocument/2006/relationships/slide" Target="slide26.xml"/><Relationship Id="rId9" Type="http://schemas.openxmlformats.org/officeDocument/2006/relationships/slide" Target="slide27.xml"/><Relationship Id="rId10" Type="http://schemas.openxmlformats.org/officeDocument/2006/relationships/slide" Target="slide29.xml"/><Relationship Id="rId11" Type="http://schemas.openxmlformats.org/officeDocument/2006/relationships/slide" Target="slide30.xml"/><Relationship Id="rId12" Type="http://schemas.openxmlformats.org/officeDocument/2006/relationships/slide" Target="slide3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4" Type="http://schemas.openxmlformats.org/officeDocument/2006/relationships/slide" Target="slide22.xml"/><Relationship Id="rId5" Type="http://schemas.openxmlformats.org/officeDocument/2006/relationships/slide" Target="slide1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30.xml"/><Relationship Id="rId13" Type="http://schemas.openxmlformats.org/officeDocument/2006/relationships/slide" Target="slide3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slide" Target="slide22.xml"/><Relationship Id="rId4" Type="http://schemas.openxmlformats.org/officeDocument/2006/relationships/slide" Target="slide1.xml"/><Relationship Id="rId5" Type="http://schemas.openxmlformats.org/officeDocument/2006/relationships/slide" Target="slide23.xml"/><Relationship Id="rId6" Type="http://schemas.openxmlformats.org/officeDocument/2006/relationships/slide" Target="slide24.xml"/><Relationship Id="rId7" Type="http://schemas.openxmlformats.org/officeDocument/2006/relationships/slide" Target="slide25.xml"/><Relationship Id="rId8" Type="http://schemas.openxmlformats.org/officeDocument/2006/relationships/slide" Target="slide26.xml"/><Relationship Id="rId9" Type="http://schemas.openxmlformats.org/officeDocument/2006/relationships/slide" Target="slide27.xml"/><Relationship Id="rId10" Type="http://schemas.openxmlformats.org/officeDocument/2006/relationships/slide" Target="slide28.xml"/><Relationship Id="rId11" Type="http://schemas.openxmlformats.org/officeDocument/2006/relationships/slide" Target="slide29.xml"/><Relationship Id="rId12" Type="http://schemas.openxmlformats.org/officeDocument/2006/relationships/slide" Target="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slide" Target="slide22.xml"/><Relationship Id="rId4" Type="http://schemas.openxmlformats.org/officeDocument/2006/relationships/slide" Target="slide1.xml"/><Relationship Id="rId5" Type="http://schemas.openxmlformats.org/officeDocument/2006/relationships/slide" Target="slide23.xml"/><Relationship Id="rId6" Type="http://schemas.openxmlformats.org/officeDocument/2006/relationships/slide" Target="slide24.xml"/><Relationship Id="rId7" Type="http://schemas.openxmlformats.org/officeDocument/2006/relationships/slide" Target="slide25.xml"/><Relationship Id="rId8" Type="http://schemas.openxmlformats.org/officeDocument/2006/relationships/slide" Target="slide26.xml"/><Relationship Id="rId9" Type="http://schemas.openxmlformats.org/officeDocument/2006/relationships/slide" Target="slide27.xml"/><Relationship Id="rId10" Type="http://schemas.openxmlformats.org/officeDocument/2006/relationships/slide" Target="slide28.xml"/><Relationship Id="rId11" Type="http://schemas.openxmlformats.org/officeDocument/2006/relationships/slide" Target="slide29.xml"/><Relationship Id="rId12" Type="http://schemas.openxmlformats.org/officeDocument/2006/relationships/slide" Target="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slide" Target="slide1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" Target="slide38.xml"/><Relationship Id="rId10" Type="http://schemas.openxmlformats.org/officeDocument/2006/relationships/slide" Target="slide39.xml"/><Relationship Id="rId11" Type="http://schemas.openxmlformats.org/officeDocument/2006/relationships/slide" Target="slide40.xml"/><Relationship Id="rId12" Type="http://schemas.openxmlformats.org/officeDocument/2006/relationships/slide" Target="slide4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slide" Target="slide32.xml"/><Relationship Id="rId4" Type="http://schemas.openxmlformats.org/officeDocument/2006/relationships/slide" Target="slide1.xml"/><Relationship Id="rId5" Type="http://schemas.openxmlformats.org/officeDocument/2006/relationships/slide" Target="slide34.xml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" Target="slide38.xml"/><Relationship Id="rId10" Type="http://schemas.openxmlformats.org/officeDocument/2006/relationships/slide" Target="slide39.xml"/><Relationship Id="rId11" Type="http://schemas.openxmlformats.org/officeDocument/2006/relationships/slide" Target="slide40.xml"/><Relationship Id="rId12" Type="http://schemas.openxmlformats.org/officeDocument/2006/relationships/slide" Target="slide4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slide" Target="slide32.xml"/><Relationship Id="rId4" Type="http://schemas.openxmlformats.org/officeDocument/2006/relationships/slide" Target="slide1.xml"/><Relationship Id="rId5" Type="http://schemas.openxmlformats.org/officeDocument/2006/relationships/slide" Target="slide33.xml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" Target="slide38.xml"/><Relationship Id="rId10" Type="http://schemas.openxmlformats.org/officeDocument/2006/relationships/slide" Target="slide39.xml"/><Relationship Id="rId11" Type="http://schemas.openxmlformats.org/officeDocument/2006/relationships/slide" Target="slide40.xml"/><Relationship Id="rId12" Type="http://schemas.openxmlformats.org/officeDocument/2006/relationships/slide" Target="slide4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slide" Target="slide32.xml"/><Relationship Id="rId4" Type="http://schemas.openxmlformats.org/officeDocument/2006/relationships/slide" Target="slide1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" Target="slide38.xml"/><Relationship Id="rId10" Type="http://schemas.openxmlformats.org/officeDocument/2006/relationships/slide" Target="slide39.xml"/><Relationship Id="rId11" Type="http://schemas.openxmlformats.org/officeDocument/2006/relationships/slide" Target="slide40.xml"/><Relationship Id="rId12" Type="http://schemas.openxmlformats.org/officeDocument/2006/relationships/slide" Target="slide4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slide" Target="slide32.xml"/><Relationship Id="rId4" Type="http://schemas.openxmlformats.org/officeDocument/2006/relationships/slide" Target="slide1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Relationship Id="rId8" Type="http://schemas.openxmlformats.org/officeDocument/2006/relationships/slide" Target="slide37.xml"/><Relationship Id="rId9" Type="http://schemas.openxmlformats.org/officeDocument/2006/relationships/slide" Target="slide38.xml"/><Relationship Id="rId10" Type="http://schemas.openxmlformats.org/officeDocument/2006/relationships/slide" Target="slide39.xml"/><Relationship Id="rId11" Type="http://schemas.openxmlformats.org/officeDocument/2006/relationships/slide" Target="slide40.xml"/><Relationship Id="rId12" Type="http://schemas.openxmlformats.org/officeDocument/2006/relationships/slide" Target="slide4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slide" Target="slide32.xml"/><Relationship Id="rId4" Type="http://schemas.openxmlformats.org/officeDocument/2006/relationships/slide" Target="slide1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Relationship Id="rId8" Type="http://schemas.openxmlformats.org/officeDocument/2006/relationships/slide" Target="slide36.xml"/><Relationship Id="rId9" Type="http://schemas.openxmlformats.org/officeDocument/2006/relationships/slide" Target="slide38.xml"/><Relationship Id="rId10" Type="http://schemas.openxmlformats.org/officeDocument/2006/relationships/slide" Target="slide39.xml"/><Relationship Id="rId11" Type="http://schemas.openxmlformats.org/officeDocument/2006/relationships/slide" Target="slide40.xml"/><Relationship Id="rId12" Type="http://schemas.openxmlformats.org/officeDocument/2006/relationships/slide" Target="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slide" Target="slide32.xml"/><Relationship Id="rId4" Type="http://schemas.openxmlformats.org/officeDocument/2006/relationships/slide" Target="slide1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slide" Target="slide39.xml"/><Relationship Id="rId11" Type="http://schemas.openxmlformats.org/officeDocument/2006/relationships/slide" Target="slide40.xml"/><Relationship Id="rId12" Type="http://schemas.openxmlformats.org/officeDocument/2006/relationships/slide" Target="slide4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4" Type="http://schemas.openxmlformats.org/officeDocument/2006/relationships/slide" Target="slide32.xml"/><Relationship Id="rId5" Type="http://schemas.openxmlformats.org/officeDocument/2006/relationships/slide" Target="slide1.xml"/><Relationship Id="rId6" Type="http://schemas.openxmlformats.org/officeDocument/2006/relationships/slide" Target="slide33.xml"/><Relationship Id="rId7" Type="http://schemas.openxmlformats.org/officeDocument/2006/relationships/slide" Target="slide34.xml"/><Relationship Id="rId8" Type="http://schemas.openxmlformats.org/officeDocument/2006/relationships/slide" Target="slide35.xml"/><Relationship Id="rId9" Type="http://schemas.openxmlformats.org/officeDocument/2006/relationships/slide" Target="slide36.xml"/><Relationship Id="rId10" Type="http://schemas.openxmlformats.org/officeDocument/2006/relationships/slide" Target="slide37.xml"/><Relationship Id="rId11" Type="http://schemas.openxmlformats.org/officeDocument/2006/relationships/slide" Target="slide38.xml"/><Relationship Id="rId12" Type="http://schemas.openxmlformats.org/officeDocument/2006/relationships/slide" Target="slide40.xml"/><Relationship Id="rId13" Type="http://schemas.openxmlformats.org/officeDocument/2006/relationships/slide" Target="slide4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slide" Target="slide32.xml"/><Relationship Id="rId4" Type="http://schemas.openxmlformats.org/officeDocument/2006/relationships/slide" Target="slide1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slide" Target="slide38.xml"/><Relationship Id="rId11" Type="http://schemas.openxmlformats.org/officeDocument/2006/relationships/slide" Target="slide39.xml"/><Relationship Id="rId12" Type="http://schemas.openxmlformats.org/officeDocument/2006/relationships/slide" Target="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slide" Target="slide32.xml"/><Relationship Id="rId4" Type="http://schemas.openxmlformats.org/officeDocument/2006/relationships/slide" Target="slide1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slide" Target="slide38.xml"/><Relationship Id="rId11" Type="http://schemas.openxmlformats.org/officeDocument/2006/relationships/slide" Target="slide39.xml"/><Relationship Id="rId12" Type="http://schemas.openxmlformats.org/officeDocument/2006/relationships/slide" Target="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 Review Unit 4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functions — questions 1 to 4. Choose a question.</a:t>
            </a:r>
            <a:endParaRPr lang="en-US" sz="1600" dirty="0"/>
          </a:p>
        </p:txBody>
      </p:sp>
      <p:sp>
        <p:nvSpPr>
          <p:cNvPr id="4" name="Button">
            <a:hlinkClick action="ppaction://hlinksldjump" r:id="rId3"/>
          </p:cNvPr>
          <p:cNvSpPr/>
          <p:nvPr/>
        </p:nvSpPr>
        <p:spPr>
          <a:xfrm>
            <a:off x="548640" y="2286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2x² − 4x − 2</a:t>
            </a:r>
            <a:endParaRPr lang="en-US" sz="1400" dirty="0"/>
          </a:p>
        </p:txBody>
      </p:sp>
      <p:sp>
        <p:nvSpPr>
          <p:cNvPr id="5" name="Button">
            <a:hlinkClick action="ppaction://hlinksldjump" r:id="rId4"/>
          </p:cNvPr>
          <p:cNvSpPr/>
          <p:nvPr/>
        </p:nvSpPr>
        <p:spPr>
          <a:xfrm>
            <a:off x="4663440" y="2286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−½x² + 2x − 1</a:t>
            </a:r>
            <a:endParaRPr lang="en-US" sz="1400" dirty="0"/>
          </a:p>
        </p:txBody>
      </p:sp>
      <p:sp>
        <p:nvSpPr>
          <p:cNvPr id="6" name="Button">
            <a:hlinkClick action="ppaction://hlinksldjump" r:id="rId5"/>
          </p:cNvPr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−½(x + 2)² − 1</a:t>
            </a:r>
            <a:endParaRPr lang="en-US" sz="1400" dirty="0"/>
          </a:p>
        </p:txBody>
      </p:sp>
      <p:sp>
        <p:nvSpPr>
          <p:cNvPr id="7" name="Button">
            <a:hlinkClick action="ppaction://hlinksldjump" r:id="rId6"/>
          </p:cNvPr>
          <p:cNvSpPr/>
          <p:nvPr/>
        </p:nvSpPr>
        <p:spPr>
          <a:xfrm>
            <a:off x="46634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07A1F"/>
          </a:solidFill>
          <a:ln>
            <a:solidFill>
              <a:srgbClr val="E0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(x − 1)² + 3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000" dirty="0"/>
          </a:p>
        </p:txBody>
      </p:sp>
      <p:sp>
        <p:nvSpPr>
          <p:cNvPr id="3" name="Button">
            <a:hlinkClick action="ppaction://hlinksldjump" r:id="rId3"/>
          </p:cNvPr>
          <p:cNvSpPr/>
          <p:nvPr/>
        </p:nvSpPr>
        <p:spPr>
          <a:xfrm>
            <a:off x="7772400" y="32004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A3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2x² − 4x − 2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button to see the answer and the explanation.</a:t>
            </a:r>
            <a:endParaRPr lang="en-US" sz="1400" dirty="0"/>
          </a:p>
        </p:txBody>
      </p:sp>
      <p:sp>
        <p:nvSpPr>
          <p:cNvPr id="6" name="Button">
            <a:hlinkClick action="ppaction://hlinksldjump" r:id="rId4"/>
          </p:cNvPr>
          <p:cNvSpPr/>
          <p:nvPr/>
        </p:nvSpPr>
        <p:spPr>
          <a:xfrm>
            <a:off x="82296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600" dirty="0"/>
          </a:p>
        </p:txBody>
      </p:sp>
      <p:sp>
        <p:nvSpPr>
          <p:cNvPr id="7" name="Button">
            <a:hlinkClick action="ppaction://hlinksldjump" r:id="rId5"/>
          </p:cNvPr>
          <p:cNvSpPr/>
          <p:nvPr/>
        </p:nvSpPr>
        <p:spPr>
          <a:xfrm>
            <a:off x="342900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600" dirty="0"/>
          </a:p>
        </p:txBody>
      </p:sp>
      <p:sp>
        <p:nvSpPr>
          <p:cNvPr id="8" name="Button">
            <a:hlinkClick action="ppaction://hlinksldjump" r:id="rId6"/>
          </p:cNvPr>
          <p:cNvSpPr/>
          <p:nvPr/>
        </p:nvSpPr>
        <p:spPr>
          <a:xfrm>
            <a:off x="603504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600" dirty="0"/>
          </a:p>
        </p:txBody>
      </p:sp>
      <p:sp>
        <p:nvSpPr>
          <p:cNvPr id="9" name="Button">
            <a:hlinkClick action="ppaction://hlinksldjump" r:id="rId7"/>
          </p:cNvPr>
          <p:cNvSpPr/>
          <p:nvPr/>
        </p:nvSpPr>
        <p:spPr>
          <a:xfrm>
            <a:off x="82296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600" dirty="0"/>
          </a:p>
        </p:txBody>
      </p:sp>
      <p:sp>
        <p:nvSpPr>
          <p:cNvPr id="10" name="Button">
            <a:hlinkClick action="ppaction://hlinksldjump" r:id="rId8"/>
          </p:cNvPr>
          <p:cNvSpPr/>
          <p:nvPr/>
        </p:nvSpPr>
        <p:spPr>
          <a:xfrm>
            <a:off x="342900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600" dirty="0"/>
          </a:p>
        </p:txBody>
      </p:sp>
      <p:sp>
        <p:nvSpPr>
          <p:cNvPr id="11" name="Button">
            <a:hlinkClick action="ppaction://hlinksldjump" r:id="rId9"/>
          </p:cNvPr>
          <p:cNvSpPr/>
          <p:nvPr/>
        </p:nvSpPr>
        <p:spPr>
          <a:xfrm>
            <a:off x="603504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600" dirty="0"/>
          </a:p>
        </p:txBody>
      </p:sp>
      <p:sp>
        <p:nvSpPr>
          <p:cNvPr id="12" name="Button">
            <a:hlinkClick action="ppaction://hlinksldjump" r:id="rId10"/>
          </p:cNvPr>
          <p:cNvSpPr/>
          <p:nvPr/>
        </p:nvSpPr>
        <p:spPr>
          <a:xfrm>
            <a:off x="82296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600" dirty="0"/>
          </a:p>
        </p:txBody>
      </p:sp>
      <p:sp>
        <p:nvSpPr>
          <p:cNvPr id="13" name="Button">
            <a:hlinkClick action="ppaction://hlinksldjump" r:id="rId11"/>
          </p:cNvPr>
          <p:cNvSpPr/>
          <p:nvPr/>
        </p:nvSpPr>
        <p:spPr>
          <a:xfrm>
            <a:off x="342900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600" dirty="0"/>
          </a:p>
        </p:txBody>
      </p:sp>
      <p:sp>
        <p:nvSpPr>
          <p:cNvPr id="14" name="Button">
            <a:hlinkClick action="ppaction://hlinksldjump" r:id="rId12"/>
          </p:cNvPr>
          <p:cNvSpPr/>
          <p:nvPr/>
        </p:nvSpPr>
        <p:spPr>
          <a:xfrm>
            <a:off x="603504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 ·  Form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2x² − 4x − 2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 is of the form y = ax² + bx + c.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it is in general form.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 ·  Opening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2x² − 4x − 2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up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positive; there is no reflection over the x-axis, therefore the graph opens up.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 ·  Width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2x² − 4x − 2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than y = x²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|2| &gt; 1, so the graph is stretched.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it is narrower than the graph of the parent function y = x².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 ·  Vertex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2x² − 4x − 2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Vertex: (1, −4)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x-coordinate: use x = −b/(2a). Here b = −4 and a = 2.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−(−4) / (2·2) = 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y-coordinate: plug in 1 for x.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2(1)² − 4(1) − 2 = −4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 ·  Axis of Symmetry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2x² − 4x − 2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of symmetry is the vertical line going through the vertex (1, −4).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equation is x = 1.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 ·  y-Intercept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2x² − 4x − 2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y-intercept: −2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y-intercept is the value of y when x = 0.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2(0)² − 4(0) − 2 = −2   →   point (0, −2)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 ·  Graph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2x² − 4x − 2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246120" cy="91440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Points: (1, −4), (0, −2), (2, −2), (3, 4), (−1, 4)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vertex (1, −4), the y-intercept (0, −2) and its reflection across x = 1: (2, −2).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x = 3: y = 2(3)² − 4(3) − 2 = 4 → (3, 4).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across the axis: (−1, 4).</a:t>
            </a:r>
            <a:endParaRPr lang="en-US" sz="1400" dirty="0"/>
          </a:p>
        </p:txBody>
      </p:sp>
      <p:pic>
        <p:nvPicPr>
          <p:cNvPr id="6" name="Image 0" descr="Graph of y = 2x² − 4x −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325880"/>
            <a:ext cx="2514600" cy="2514600"/>
          </a:xfrm>
          <a:prstGeom prst="rect">
            <a:avLst/>
          </a:prstGeom>
        </p:spPr>
      </p:pic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6" name="Button">
            <a:hlinkClick action="ppaction://hlinksldjump" r:id="rId13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 ·  Minimum / Maximum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2x² − 4x − 2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of −4 at x =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up, so the vertex is the lowest point.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value is −4 and it occurs at x = 1.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 ·  Domain &amp; Range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2x² − 4x − 2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(−∞, ∞)     Range: [−4, ∞)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number can be used for x.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up with a minimum of −4, so y ≥ −4.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000" dirty="0"/>
          </a:p>
        </p:txBody>
      </p:sp>
      <p:sp>
        <p:nvSpPr>
          <p:cNvPr id="3" name="Button">
            <a:hlinkClick action="ppaction://hlinksldjump" r:id="rId3"/>
          </p:cNvPr>
          <p:cNvSpPr/>
          <p:nvPr/>
        </p:nvSpPr>
        <p:spPr>
          <a:xfrm>
            <a:off x="7772400" y="32004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A3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−½x² + 2x − 1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button to see the answer and the explanation.</a:t>
            </a:r>
            <a:endParaRPr lang="en-US" sz="1400" dirty="0"/>
          </a:p>
        </p:txBody>
      </p:sp>
      <p:sp>
        <p:nvSpPr>
          <p:cNvPr id="6" name="Button">
            <a:hlinkClick action="ppaction://hlinksldjump" r:id="rId4"/>
          </p:cNvPr>
          <p:cNvSpPr/>
          <p:nvPr/>
        </p:nvSpPr>
        <p:spPr>
          <a:xfrm>
            <a:off x="82296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600" dirty="0"/>
          </a:p>
        </p:txBody>
      </p:sp>
      <p:sp>
        <p:nvSpPr>
          <p:cNvPr id="7" name="Button">
            <a:hlinkClick action="ppaction://hlinksldjump" r:id="rId5"/>
          </p:cNvPr>
          <p:cNvSpPr/>
          <p:nvPr/>
        </p:nvSpPr>
        <p:spPr>
          <a:xfrm>
            <a:off x="342900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600" dirty="0"/>
          </a:p>
        </p:txBody>
      </p:sp>
      <p:sp>
        <p:nvSpPr>
          <p:cNvPr id="8" name="Button">
            <a:hlinkClick action="ppaction://hlinksldjump" r:id="rId6"/>
          </p:cNvPr>
          <p:cNvSpPr/>
          <p:nvPr/>
        </p:nvSpPr>
        <p:spPr>
          <a:xfrm>
            <a:off x="603504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600" dirty="0"/>
          </a:p>
        </p:txBody>
      </p:sp>
      <p:sp>
        <p:nvSpPr>
          <p:cNvPr id="9" name="Button">
            <a:hlinkClick action="ppaction://hlinksldjump" r:id="rId7"/>
          </p:cNvPr>
          <p:cNvSpPr/>
          <p:nvPr/>
        </p:nvSpPr>
        <p:spPr>
          <a:xfrm>
            <a:off x="82296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600" dirty="0"/>
          </a:p>
        </p:txBody>
      </p:sp>
      <p:sp>
        <p:nvSpPr>
          <p:cNvPr id="10" name="Button">
            <a:hlinkClick action="ppaction://hlinksldjump" r:id="rId8"/>
          </p:cNvPr>
          <p:cNvSpPr/>
          <p:nvPr/>
        </p:nvSpPr>
        <p:spPr>
          <a:xfrm>
            <a:off x="342900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600" dirty="0"/>
          </a:p>
        </p:txBody>
      </p:sp>
      <p:sp>
        <p:nvSpPr>
          <p:cNvPr id="11" name="Button">
            <a:hlinkClick action="ppaction://hlinksldjump" r:id="rId9"/>
          </p:cNvPr>
          <p:cNvSpPr/>
          <p:nvPr/>
        </p:nvSpPr>
        <p:spPr>
          <a:xfrm>
            <a:off x="603504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600" dirty="0"/>
          </a:p>
        </p:txBody>
      </p:sp>
      <p:sp>
        <p:nvSpPr>
          <p:cNvPr id="12" name="Button">
            <a:hlinkClick action="ppaction://hlinksldjump" r:id="rId10"/>
          </p:cNvPr>
          <p:cNvSpPr/>
          <p:nvPr/>
        </p:nvSpPr>
        <p:spPr>
          <a:xfrm>
            <a:off x="82296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600" dirty="0"/>
          </a:p>
        </p:txBody>
      </p:sp>
      <p:sp>
        <p:nvSpPr>
          <p:cNvPr id="13" name="Button">
            <a:hlinkClick action="ppaction://hlinksldjump" r:id="rId11"/>
          </p:cNvPr>
          <p:cNvSpPr/>
          <p:nvPr/>
        </p:nvSpPr>
        <p:spPr>
          <a:xfrm>
            <a:off x="342900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600" dirty="0"/>
          </a:p>
        </p:txBody>
      </p:sp>
      <p:sp>
        <p:nvSpPr>
          <p:cNvPr id="14" name="Button">
            <a:hlinkClick action="ppaction://hlinksldjump" r:id="rId12"/>
          </p:cNvPr>
          <p:cNvSpPr/>
          <p:nvPr/>
        </p:nvSpPr>
        <p:spPr>
          <a:xfrm>
            <a:off x="603504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 ·  Form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−½x² + 2x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 is of the form y = ax² + bx + c.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it is in general form.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 ·  Opening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−½x² + 2x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down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−½.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negative; there is a reflection over the x-axis, therefore the graph opens down.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 ·  Width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−½x² + 2x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than y = x²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|−½| &lt; 1, so the graph is compressed.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it is wider than the graph of the parent function y = x².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 ·  Vertex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−½x² + 2x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Vertex: (2, 1)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x-coordinate: use x = −b/(2a). Here b = 2 and a = −½.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−2 / (2·(−½)) = −2 / (−1) = 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y-coordinate: plug in 2 for x.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−½(2)² + 2(2) − 1 = −2 + 4 − 1 = 1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 ·  Axis of Symmetry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−½x² + 2x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of symmetry is the vertical line going through the vertex (2, 1).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equation is x = 2.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 ·  y-Intercept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−½x² + 2x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y-intercept: −1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y-intercept is the value of y when x = 0.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−½(0)² + 2(0) − 1 = −1   →   point (0, −1)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 ·  Graph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−½x² + 2x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246120" cy="91440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Points: (2, 1), (0, −1), (4, −1), (−2, −7), (6, −7)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vertex (2, 1), the y-intercept (0, −1) and its reflection across x = 2: (4, −1).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x = −2: y = −½(−2)² + 2(−2) − 1 = −7 → (−2, −7).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across the axis: (6, −7).</a:t>
            </a:r>
            <a:endParaRPr lang="en-US" sz="1400" dirty="0"/>
          </a:p>
        </p:txBody>
      </p:sp>
      <p:pic>
        <p:nvPicPr>
          <p:cNvPr id="6" name="Image 0" descr="Graph of y = −½x² + 2x −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325880"/>
            <a:ext cx="2514600" cy="2514600"/>
          </a:xfrm>
          <a:prstGeom prst="rect">
            <a:avLst/>
          </a:prstGeom>
        </p:spPr>
      </p:pic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6" name="Button">
            <a:hlinkClick action="ppaction://hlinksldjump" r:id="rId13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 ·  Minimum / Maximum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−½x² + 2x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of 1 at x = 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down, so the vertex is the highest point.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value is 1 and it occurs at x = 2.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 ·  Domain &amp; Range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−½x² + 2x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(−∞, ∞)     Range: (−∞, 1]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number can be used for x.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down with a maximum of 1, so y ≤ 1.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000" dirty="0"/>
          </a:p>
        </p:txBody>
      </p:sp>
      <p:sp>
        <p:nvSpPr>
          <p:cNvPr id="3" name="Button">
            <a:hlinkClick action="ppaction://hlinksldjump" r:id="rId3"/>
          </p:cNvPr>
          <p:cNvSpPr/>
          <p:nvPr/>
        </p:nvSpPr>
        <p:spPr>
          <a:xfrm>
            <a:off x="7772400" y="32004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A3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−½(x + 2)² − 1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button to see the answer and the explanation.</a:t>
            </a:r>
            <a:endParaRPr lang="en-US" sz="1400" dirty="0"/>
          </a:p>
        </p:txBody>
      </p:sp>
      <p:sp>
        <p:nvSpPr>
          <p:cNvPr id="6" name="Button">
            <a:hlinkClick action="ppaction://hlinksldjump" r:id="rId4"/>
          </p:cNvPr>
          <p:cNvSpPr/>
          <p:nvPr/>
        </p:nvSpPr>
        <p:spPr>
          <a:xfrm>
            <a:off x="82296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600" dirty="0"/>
          </a:p>
        </p:txBody>
      </p:sp>
      <p:sp>
        <p:nvSpPr>
          <p:cNvPr id="7" name="Button">
            <a:hlinkClick action="ppaction://hlinksldjump" r:id="rId5"/>
          </p:cNvPr>
          <p:cNvSpPr/>
          <p:nvPr/>
        </p:nvSpPr>
        <p:spPr>
          <a:xfrm>
            <a:off x="342900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600" dirty="0"/>
          </a:p>
        </p:txBody>
      </p:sp>
      <p:sp>
        <p:nvSpPr>
          <p:cNvPr id="8" name="Button">
            <a:hlinkClick action="ppaction://hlinksldjump" r:id="rId6"/>
          </p:cNvPr>
          <p:cNvSpPr/>
          <p:nvPr/>
        </p:nvSpPr>
        <p:spPr>
          <a:xfrm>
            <a:off x="603504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600" dirty="0"/>
          </a:p>
        </p:txBody>
      </p:sp>
      <p:sp>
        <p:nvSpPr>
          <p:cNvPr id="9" name="Button">
            <a:hlinkClick action="ppaction://hlinksldjump" r:id="rId7"/>
          </p:cNvPr>
          <p:cNvSpPr/>
          <p:nvPr/>
        </p:nvSpPr>
        <p:spPr>
          <a:xfrm>
            <a:off x="82296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600" dirty="0"/>
          </a:p>
        </p:txBody>
      </p:sp>
      <p:sp>
        <p:nvSpPr>
          <p:cNvPr id="10" name="Button">
            <a:hlinkClick action="ppaction://hlinksldjump" r:id="rId8"/>
          </p:cNvPr>
          <p:cNvSpPr/>
          <p:nvPr/>
        </p:nvSpPr>
        <p:spPr>
          <a:xfrm>
            <a:off x="342900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600" dirty="0"/>
          </a:p>
        </p:txBody>
      </p:sp>
      <p:sp>
        <p:nvSpPr>
          <p:cNvPr id="11" name="Button">
            <a:hlinkClick action="ppaction://hlinksldjump" r:id="rId9"/>
          </p:cNvPr>
          <p:cNvSpPr/>
          <p:nvPr/>
        </p:nvSpPr>
        <p:spPr>
          <a:xfrm>
            <a:off x="603504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600" dirty="0"/>
          </a:p>
        </p:txBody>
      </p:sp>
      <p:sp>
        <p:nvSpPr>
          <p:cNvPr id="12" name="Button">
            <a:hlinkClick action="ppaction://hlinksldjump" r:id="rId10"/>
          </p:cNvPr>
          <p:cNvSpPr/>
          <p:nvPr/>
        </p:nvSpPr>
        <p:spPr>
          <a:xfrm>
            <a:off x="82296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600" dirty="0"/>
          </a:p>
        </p:txBody>
      </p:sp>
      <p:sp>
        <p:nvSpPr>
          <p:cNvPr id="13" name="Button">
            <a:hlinkClick action="ppaction://hlinksldjump" r:id="rId11"/>
          </p:cNvPr>
          <p:cNvSpPr/>
          <p:nvPr/>
        </p:nvSpPr>
        <p:spPr>
          <a:xfrm>
            <a:off x="342900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600" dirty="0"/>
          </a:p>
        </p:txBody>
      </p:sp>
      <p:sp>
        <p:nvSpPr>
          <p:cNvPr id="14" name="Button">
            <a:hlinkClick action="ppaction://hlinksldjump" r:id="rId12"/>
          </p:cNvPr>
          <p:cNvSpPr/>
          <p:nvPr/>
        </p:nvSpPr>
        <p:spPr>
          <a:xfrm>
            <a:off x="603504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 ·  Form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−½(x + 2)²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form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 is of the form y = a(x − h)² + k.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it is in vertex form.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 ·  Opening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−½(x + 2)²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down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−½.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negative; there is a reflection over the x-axis, therefore the graph opens down.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 ·  Width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−½(x + 2)²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than y = x²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|−½| &lt; 1, so the graph is compressed.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it is wider than the graph of the parent function y = x².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 ·  Vertex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−½(x + 2)²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Vertex: (−2, −1)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vertex form, the vertex is the point (h, k).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−½(x − (−2))² + (−1), so h = −2 and k = −1.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 ·  Axis of Symmetry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−½(x + 2)²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−2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of symmetry is the vertical line going through the vertex (−2, −1).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equation is x = −2.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 ·  y-Intercept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−½(x + 2)²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y-intercept: −3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y-intercept is the value of y when x = 0.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−½(0 + 2)² − 1 = −2 − 1 = −3   →   point (0, −3)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 ·  Graph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−½(x + 2)²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246120" cy="91440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Points: (−2, −1), (0, −3), (−4, −3), (1, −11/2), (−5, −11/2)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vertex (−2, −1), the y-intercept (0, −3) and its reflection across x = −2: (−4, −3).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x = 1: y = −½(1 + 2)² − 1 = −11/2 → (1, −11/2).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across the axis: (−5, −11/2).</a:t>
            </a:r>
            <a:endParaRPr lang="en-US" sz="1400" dirty="0"/>
          </a:p>
        </p:txBody>
      </p:sp>
      <p:pic>
        <p:nvPicPr>
          <p:cNvPr id="6" name="Image 0" descr="Graph of y = −½(x + 2)² −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325880"/>
            <a:ext cx="2514600" cy="2514600"/>
          </a:xfrm>
          <a:prstGeom prst="rect">
            <a:avLst/>
          </a:prstGeom>
        </p:spPr>
      </p:pic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6" name="Button">
            <a:hlinkClick action="ppaction://hlinksldjump" r:id="rId13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 ·  Minimum / Maximum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−½(x + 2)²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of −1 at x = −2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down, so the vertex is the highest point.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value is −1 and it occurs at x = −2.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 ·  Domain &amp; Range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−½(x + 2)² 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(−∞, ∞)     Range: (−∞, −1]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number can be used for x.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down with a maximum of −1, so y ≤ −1.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000" dirty="0"/>
          </a:p>
        </p:txBody>
      </p:sp>
      <p:sp>
        <p:nvSpPr>
          <p:cNvPr id="3" name="Button">
            <a:hlinkClick action="ppaction://hlinksldjump" r:id="rId3"/>
          </p:cNvPr>
          <p:cNvSpPr/>
          <p:nvPr/>
        </p:nvSpPr>
        <p:spPr>
          <a:xfrm>
            <a:off x="7772400" y="32004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A3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(x − 1)² + 3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button to see the answer and the explanation.</a:t>
            </a:r>
            <a:endParaRPr lang="en-US" sz="1400" dirty="0"/>
          </a:p>
        </p:txBody>
      </p:sp>
      <p:sp>
        <p:nvSpPr>
          <p:cNvPr id="6" name="Button">
            <a:hlinkClick action="ppaction://hlinksldjump" r:id="rId4"/>
          </p:cNvPr>
          <p:cNvSpPr/>
          <p:nvPr/>
        </p:nvSpPr>
        <p:spPr>
          <a:xfrm>
            <a:off x="82296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600" dirty="0"/>
          </a:p>
        </p:txBody>
      </p:sp>
      <p:sp>
        <p:nvSpPr>
          <p:cNvPr id="7" name="Button">
            <a:hlinkClick action="ppaction://hlinksldjump" r:id="rId5"/>
          </p:cNvPr>
          <p:cNvSpPr/>
          <p:nvPr/>
        </p:nvSpPr>
        <p:spPr>
          <a:xfrm>
            <a:off x="342900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600" dirty="0"/>
          </a:p>
        </p:txBody>
      </p:sp>
      <p:sp>
        <p:nvSpPr>
          <p:cNvPr id="8" name="Button">
            <a:hlinkClick action="ppaction://hlinksldjump" r:id="rId6"/>
          </p:cNvPr>
          <p:cNvSpPr/>
          <p:nvPr/>
        </p:nvSpPr>
        <p:spPr>
          <a:xfrm>
            <a:off x="6035040" y="2743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600" dirty="0"/>
          </a:p>
        </p:txBody>
      </p:sp>
      <p:sp>
        <p:nvSpPr>
          <p:cNvPr id="9" name="Button">
            <a:hlinkClick action="ppaction://hlinksldjump" r:id="rId7"/>
          </p:cNvPr>
          <p:cNvSpPr/>
          <p:nvPr/>
        </p:nvSpPr>
        <p:spPr>
          <a:xfrm>
            <a:off x="82296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600" dirty="0"/>
          </a:p>
        </p:txBody>
      </p:sp>
      <p:sp>
        <p:nvSpPr>
          <p:cNvPr id="10" name="Button">
            <a:hlinkClick action="ppaction://hlinksldjump" r:id="rId8"/>
          </p:cNvPr>
          <p:cNvSpPr/>
          <p:nvPr/>
        </p:nvSpPr>
        <p:spPr>
          <a:xfrm>
            <a:off x="342900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600" dirty="0"/>
          </a:p>
        </p:txBody>
      </p:sp>
      <p:sp>
        <p:nvSpPr>
          <p:cNvPr id="11" name="Button">
            <a:hlinkClick action="ppaction://hlinksldjump" r:id="rId9"/>
          </p:cNvPr>
          <p:cNvSpPr/>
          <p:nvPr/>
        </p:nvSpPr>
        <p:spPr>
          <a:xfrm>
            <a:off x="603504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600" dirty="0"/>
          </a:p>
        </p:txBody>
      </p:sp>
      <p:sp>
        <p:nvSpPr>
          <p:cNvPr id="12" name="Button">
            <a:hlinkClick action="ppaction://hlinksldjump" r:id="rId10"/>
          </p:cNvPr>
          <p:cNvSpPr/>
          <p:nvPr/>
        </p:nvSpPr>
        <p:spPr>
          <a:xfrm>
            <a:off x="82296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600" dirty="0"/>
          </a:p>
        </p:txBody>
      </p:sp>
      <p:sp>
        <p:nvSpPr>
          <p:cNvPr id="13" name="Button">
            <a:hlinkClick action="ppaction://hlinksldjump" r:id="rId11"/>
          </p:cNvPr>
          <p:cNvSpPr/>
          <p:nvPr/>
        </p:nvSpPr>
        <p:spPr>
          <a:xfrm>
            <a:off x="342900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600" dirty="0"/>
          </a:p>
        </p:txBody>
      </p:sp>
      <p:sp>
        <p:nvSpPr>
          <p:cNvPr id="14" name="Button">
            <a:hlinkClick action="ppaction://hlinksldjump" r:id="rId12"/>
          </p:cNvPr>
          <p:cNvSpPr/>
          <p:nvPr/>
        </p:nvSpPr>
        <p:spPr>
          <a:xfrm>
            <a:off x="6035040" y="4114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  ·  Form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(x − 1)² + 3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form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 is of the form y = a(x − h)² + k.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it is in vertex form.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  ·  Opening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(x − 1)² + 3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up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positive; there is no reflection over the x-axis, therefore the graph opens up.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  ·  Width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(x − 1)² + 3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width as y = x²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|1| = 1, so there is no stretch and no compression.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it has the same width as the graph of the parent function y = x².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  ·  Vertex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(x − 1)² + 3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Vertex: (1, 3)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vertex form, the vertex is the point (h, k).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1(x − 1)² + 3, so h = 1 and k = 3.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  ·  Axis of Symmetry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(x − 1)² + 3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of symmetry is the vertical line going through the vertex (1, 3).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equation is x = 1.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  ·  y-Intercept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(x − 1)² + 3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y-intercept: 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y-intercept is the value of y when x = 0.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(0 − 1)² + 3 = 1 + 3 = 4   →   point (0, 4)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  ·  Graph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(x − 1)² + 3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246120" cy="91440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Points: (1, 3), (0, 4), (2, 4), (3, 7), (−1, 7)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vertex (1, 3), the y-intercept (0, 4) and its reflection across x = 1: (2, 4).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x = 3: y = (3 − 1)² + 3 = 7 → (3, 7).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across the axis: (−1, 7).</a:t>
            </a:r>
            <a:endParaRPr lang="en-US" sz="1400" dirty="0"/>
          </a:p>
        </p:txBody>
      </p:sp>
      <p:pic>
        <p:nvPicPr>
          <p:cNvPr id="6" name="Image 0" descr="Graph of y = (x − 1)² +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325880"/>
            <a:ext cx="2514600" cy="2514600"/>
          </a:xfrm>
          <a:prstGeom prst="rect">
            <a:avLst/>
          </a:prstGeom>
        </p:spPr>
      </p:pic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  <p:sp>
        <p:nvSpPr>
          <p:cNvPr id="16" name="Button">
            <a:hlinkClick action="ppaction://hlinksldjump" r:id="rId13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  ·  Minimum / Maximum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(x − 1)² + 3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of 3 at x =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up, so the vertex is the lowest point.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value is 3 and it occurs at x = 1.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Range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  ·  Domain &amp; Range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(x − 1)² + 3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852160" cy="731520"/>
          </a:xfrm>
          <a:prstGeom prst="rect">
            <a:avLst/>
          </a:prstGeom>
          <a:solidFill>
            <a:srgbClr val="FCE9D7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(−∞, ∞)     Range: [3, ∞)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number can be used for x.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opens up with a minimum of 3, so y ≥ 3.</a:t>
            </a:r>
            <a:endParaRPr lang="en-US" sz="1700" dirty="0"/>
          </a:p>
        </p:txBody>
      </p:sp>
      <p:sp>
        <p:nvSpPr>
          <p:cNvPr id="6" name="Button">
            <a:hlinkClick action="ppaction://hlinksldjump" r:id="rId3"/>
          </p:cNvPr>
          <p:cNvSpPr/>
          <p:nvPr/>
        </p:nvSpPr>
        <p:spPr>
          <a:xfrm>
            <a:off x="6629400" y="2743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Question</a:t>
            </a:r>
            <a:endParaRPr lang="en-US" sz="1100" dirty="0"/>
          </a:p>
        </p:txBody>
      </p:sp>
      <p:sp>
        <p:nvSpPr>
          <p:cNvPr id="7" name="Button">
            <a:hlinkClick action="ppaction://hlinksldjump" r:id="rId4"/>
          </p:cNvPr>
          <p:cNvSpPr/>
          <p:nvPr/>
        </p:nvSpPr>
        <p:spPr>
          <a:xfrm>
            <a:off x="7818120" y="2743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Button">
            <a:hlinkClick action="ppaction://hlinksldjump" r:id="rId5"/>
          </p:cNvPr>
          <p:cNvSpPr/>
          <p:nvPr/>
        </p:nvSpPr>
        <p:spPr>
          <a:xfrm>
            <a:off x="6629400" y="86868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</p:txBody>
      </p:sp>
      <p:sp>
        <p:nvSpPr>
          <p:cNvPr id="9" name="Button">
            <a:hlinkClick action="ppaction://hlinksldjump" r:id="rId6"/>
          </p:cNvPr>
          <p:cNvSpPr/>
          <p:nvPr/>
        </p:nvSpPr>
        <p:spPr>
          <a:xfrm>
            <a:off x="6629400" y="138074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0" name="Button">
            <a:hlinkClick action="ppaction://hlinksldjump" r:id="rId7"/>
          </p:cNvPr>
          <p:cNvSpPr/>
          <p:nvPr/>
        </p:nvSpPr>
        <p:spPr>
          <a:xfrm>
            <a:off x="6629400" y="18928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400" dirty="0"/>
          </a:p>
        </p:txBody>
      </p:sp>
      <p:sp>
        <p:nvSpPr>
          <p:cNvPr id="11" name="Button">
            <a:hlinkClick action="ppaction://hlinksldjump" r:id="rId8"/>
          </p:cNvPr>
          <p:cNvSpPr/>
          <p:nvPr/>
        </p:nvSpPr>
        <p:spPr>
          <a:xfrm>
            <a:off x="6629400" y="24048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400" dirty="0"/>
          </a:p>
        </p:txBody>
      </p:sp>
      <p:sp>
        <p:nvSpPr>
          <p:cNvPr id="12" name="Button">
            <a:hlinkClick action="ppaction://hlinksldjump" r:id="rId9"/>
          </p:cNvPr>
          <p:cNvSpPr/>
          <p:nvPr/>
        </p:nvSpPr>
        <p:spPr>
          <a:xfrm>
            <a:off x="6629400" y="2916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of sym.</a:t>
            </a:r>
            <a:endParaRPr lang="en-US" sz="1400" dirty="0"/>
          </a:p>
        </p:txBody>
      </p:sp>
      <p:sp>
        <p:nvSpPr>
          <p:cNvPr id="13" name="Button">
            <a:hlinkClick action="ppaction://hlinksldjump" r:id="rId10"/>
          </p:cNvPr>
          <p:cNvSpPr/>
          <p:nvPr/>
        </p:nvSpPr>
        <p:spPr>
          <a:xfrm>
            <a:off x="6629400" y="34290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y-int.</a:t>
            </a:r>
            <a:endParaRPr lang="en-US" sz="1400" dirty="0"/>
          </a:p>
        </p:txBody>
      </p:sp>
      <p:sp>
        <p:nvSpPr>
          <p:cNvPr id="14" name="Button">
            <a:hlinkClick action="ppaction://hlinksldjump" r:id="rId11"/>
          </p:cNvPr>
          <p:cNvSpPr/>
          <p:nvPr/>
        </p:nvSpPr>
        <p:spPr>
          <a:xfrm>
            <a:off x="6629400" y="394106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Button">
            <a:hlinkClick action="ppaction://hlinksldjump" r:id="rId12"/>
          </p:cNvPr>
          <p:cNvSpPr/>
          <p:nvPr/>
        </p:nvSpPr>
        <p:spPr>
          <a:xfrm>
            <a:off x="6629400" y="445312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 Review Unit 4</dc:title>
  <dc:subject>PptxGenJS Presentation</dc:subject>
  <dc:creator>PptxGenJS</dc:creator>
  <cp:lastModifiedBy>PptxGenJS</cp:lastModifiedBy>
  <cp:revision>1</cp:revision>
  <dcterms:created xsi:type="dcterms:W3CDTF">2026-10-22T14:02:58Z</dcterms:created>
  <dcterms:modified xsi:type="dcterms:W3CDTF">2026-10-22T14:02:58Z</dcterms:modified>
</cp:coreProperties>
</file>